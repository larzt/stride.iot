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502920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12801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STRIDE  ·  APPSTRIDE.ORG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56032" y="91440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dispositivo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modular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2971800"/>
            <a:ext cx="228600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30906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Alejandro Rodríguez Mederos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33832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8D4"/>
                </a:solidFill>
              </a:rPr>
              <a:t>Grado en Ingeniería Informática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8D4"/>
                </a:solidFill>
              </a:rPr>
              <a:t>ESIT · Universidad de La Laguna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8D4"/>
                </a:solidFill>
              </a:rPr>
              <a:t>La Laguna, junio 2026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6032" y="42062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D8D4"/>
                </a:solidFill>
              </a:rPr>
              <a:t>Tutores: D. Iván Castilla · D. Santiago Torres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0" y="5029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8A"/>
                </a:solidFill>
              </a:rPr>
              <a:t>Trabajo de Fin de Grado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0" y="10058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14173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 en capas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178308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 embebido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17627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recompilar firmware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254203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6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HTTP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294436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desde cualquier navegador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0" y="4681728"/>
            <a:ext cx="5029200" cy="18288"/>
          </a:xfrm>
          <a:prstGeom prst="rect">
            <a:avLst/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47548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Diseño e implementación de un dispositivo IoT modular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D7A65"/>
                </a:solidFill>
              </a:rPr>
              <a:t>ÍNDICE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defensa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914400" cy="36576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64208"/>
            <a:ext cx="406908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6420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76A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61288" y="1664208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y objetivos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45720" cy="621792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664208"/>
            <a:ext cx="406908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166420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7A65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504688" y="1664208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664208"/>
            <a:ext cx="45720" cy="621792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423160"/>
            <a:ext cx="406908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42316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066E0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61288" y="2423160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423160"/>
            <a:ext cx="45720" cy="621792"/>
          </a:xfrm>
          <a:prstGeom prst="rect">
            <a:avLst/>
          </a:prstGeom>
          <a:solidFill>
            <a:srgbClr val="7066E0"/>
          </a:solidFill>
          <a:ln w="12700">
            <a:solidFill>
              <a:srgbClr val="7066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423160"/>
            <a:ext cx="406908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242316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76A"/>
                </a:solidFill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04688" y="2423160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DSL: lenguaje de dominio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423160"/>
            <a:ext cx="45720" cy="621792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82112"/>
            <a:ext cx="406908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318211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7A65"/>
                </a:solidFill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61288" y="3182112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HTTP embebido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182112"/>
            <a:ext cx="45720" cy="621792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182112"/>
            <a:ext cx="406908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318211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066E0"/>
                </a:solidFill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04688" y="3182112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y demostración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182112"/>
            <a:ext cx="45720" cy="621792"/>
          </a:xfrm>
          <a:prstGeom prst="rect">
            <a:avLst/>
          </a:prstGeom>
          <a:solidFill>
            <a:srgbClr val="7066E0"/>
          </a:solidFill>
          <a:ln w="12700">
            <a:solidFill>
              <a:srgbClr val="7066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941064"/>
            <a:ext cx="406908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394106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76A"/>
                </a:solidFill>
              </a:rPr>
              <a:t>07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61288" y="3941064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energética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3941064"/>
            <a:ext cx="45720" cy="621792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941064"/>
            <a:ext cx="406908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394106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7A65"/>
                </a:solidFill>
              </a:rPr>
              <a:t>08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504688" y="3941064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(EN)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3941064"/>
            <a:ext cx="45720" cy="621792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D7A65"/>
                </a:solidFill>
              </a:rPr>
              <a:t>01 · MOTIVACIÓN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este dispositivo?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64208"/>
            <a:ext cx="3931920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64208"/>
            <a:ext cx="3931920" cy="45720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6A"/>
                </a:solidFill>
              </a:rPr>
              <a:t>El problema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76272"/>
            <a:ext cx="73152" cy="73152"/>
          </a:xfrm>
          <a:prstGeom prst="ellipse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305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Soluciones IoT altamente especializadas y cerradas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670048"/>
            <a:ext cx="73152" cy="73152"/>
          </a:xfrm>
          <a:prstGeom prst="ellipse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243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El hardware no es reutilizable entre aplicaciones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163824"/>
            <a:ext cx="73152" cy="73152"/>
          </a:xfrm>
          <a:prstGeom prst="ellipse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1181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Adaptar el comportamiento exige recompilar el firmware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73152" cy="73152"/>
          </a:xfrm>
          <a:prstGeom prst="ellipse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118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Dependencia de servicios cloud para funcionar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151376"/>
            <a:ext cx="73152" cy="73152"/>
          </a:xfrm>
          <a:prstGeom prst="ellipse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0565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El usuario debe adaptarse al dispositivo, no al revés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1664208"/>
            <a:ext cx="3931920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664208"/>
            <a:ext cx="3931920" cy="45720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7830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A65"/>
                </a:solidFill>
              </a:rPr>
              <a:t>La propuesta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2176272"/>
            <a:ext cx="73152" cy="73152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13055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Plataforma base reutilizable para múltiples aplicaciones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92040" y="2670048"/>
            <a:ext cx="73152" cy="73152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62432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Ampliación rápida mediante buses I2C y SPI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92040" y="3163824"/>
            <a:ext cx="73152" cy="73152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11810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DSL: programar sin herramientas externas ni recompilación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92040" y="3657600"/>
            <a:ext cx="73152" cy="73152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6118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Servidor web embebido — configuración desde el navegador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92040" y="4151376"/>
            <a:ext cx="73152" cy="73152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410565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El dispositivo se adapta al usuario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D7A65"/>
                </a:solidFill>
              </a:rPr>
              <a:t>02 · ESTADO DEL ARTE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plataformas IoT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existe y qué nicho ocupa el dispositivo propuesto?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64208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1188720"/>
                <a:gridCol w="11887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Plataforma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A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Dominio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A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Modular HW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A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Reconfig.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A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Cloud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A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Programación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A6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IIoT Predictivo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Industrial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Baja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Modular low-cost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Industrial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Baja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C/C++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Smart Agriculture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Agrícola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Baja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Baja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App externa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Est. Meteorológica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Ambiental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</a:rPr>
                        <a:t>Microservicios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7A65"/>
                          </a:solidFill>
                        </a:rPr>
                        <a:t>▶  Este TFG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7A65"/>
                          </a:solidFill>
                        </a:rPr>
                        <a:t>Multi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7A65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7A65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7A65"/>
                          </a:solidFill>
                        </a:rPr>
                        <a:t>Opcional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7A65"/>
                          </a:solidFill>
                        </a:rPr>
                        <a:t>DSL embebido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160520"/>
            <a:ext cx="8229600" cy="658368"/>
          </a:xfrm>
          <a:prstGeom prst="rect">
            <a:avLst/>
          </a:prstGeom>
          <a:solidFill>
            <a:srgbClr val="EBF5F1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4160520"/>
            <a:ext cx="45720" cy="658368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224528"/>
            <a:ext cx="7909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D7A65"/>
                </a:solidFill>
              </a:rPr>
              <a:t>El dispositivo propuesto ocupa el cruce entre tres carencias comunes: especialización vertical, reconfigurabilidad limitada y dependencia de servicios externos. Ninguna solución analizada cubre los tres a la vez.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D7A65"/>
                </a:solidFill>
              </a:rPr>
              <a:t>03 · ARQUITECTURA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y software organizados en capas desacopladas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7066E0"/>
          </a:solidFill>
          <a:ln w="12700">
            <a:solidFill>
              <a:srgbClr val="706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64208"/>
            <a:ext cx="3931920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105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Hardware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103120"/>
            <a:ext cx="731520" cy="36576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860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76A"/>
                </a:solidFill>
              </a:rPr>
              <a:t>Microcontrolador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4963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ESP32-S3  ·  doble núcleo  ·  Wi-Fi integrado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79806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76A"/>
                </a:solidFill>
              </a:rPr>
              <a:t>Expansión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00837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Multiplexor I2C / expansor PCF8574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3101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76A"/>
                </a:solidFill>
              </a:rPr>
              <a:t>Sensores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5204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BME280 (temperatura/presión) + MPU6050 (IMU 6DOF)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38221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76A"/>
                </a:solidFill>
              </a:rPr>
              <a:t>Interfaz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403250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Pantalla TFT  ·  3 botones  ·  3 LEDs indicadores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433425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76A"/>
                </a:solidFill>
              </a:rPr>
              <a:t>Almacenamiento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45445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Tarjeta microSD para programas y logs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664208"/>
            <a:ext cx="3931920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8105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Software — Capas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92040" y="2103120"/>
            <a:ext cx="731520" cy="36576"/>
          </a:xfrm>
          <a:prstGeom prst="rect">
            <a:avLst/>
          </a:prstGeom>
          <a:solidFill>
            <a:srgbClr val="7066E0"/>
          </a:solidFill>
          <a:ln w="12700">
            <a:solidFill>
              <a:srgbClr val="7066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2313432"/>
            <a:ext cx="45720" cy="402336"/>
          </a:xfrm>
          <a:prstGeom prst="rect">
            <a:avLst/>
          </a:prstGeom>
          <a:solidFill>
            <a:srgbClr val="7066E0"/>
          </a:solidFill>
          <a:ln w="12700">
            <a:solidFill>
              <a:srgbClr val="706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28600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66E0"/>
                </a:solidFill>
              </a:rPr>
              <a:t>Core / Tests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249631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Pruebas automatizadas del sistema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2825496"/>
            <a:ext cx="45720" cy="402336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79806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A65"/>
                </a:solidFill>
              </a:rPr>
              <a:t>Components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300837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Lexer · Logger · Observer · Locator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3337560"/>
            <a:ext cx="45720" cy="402336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31012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76A"/>
                </a:solidFill>
              </a:rPr>
              <a:t>Blackboard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35204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Estado compartido entre módulos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3849624"/>
            <a:ext cx="45720" cy="402336"/>
          </a:xfrm>
          <a:prstGeom prst="rect">
            <a:avLst/>
          </a:prstGeom>
          <a:solidFill>
            <a:srgbClr val="7066E0"/>
          </a:solidFill>
          <a:ln w="12700">
            <a:solidFill>
              <a:srgbClr val="7066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82219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66E0"/>
                </a:solidFill>
              </a:rPr>
              <a:t>Source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403250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Brain · Handlers · Tasks · Types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4361688"/>
            <a:ext cx="45720" cy="402336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433425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A65"/>
                </a:solidFill>
              </a:rPr>
              <a:t>Brain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0" y="454456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Network · Server · Interpreter · Expansion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</a:rPr>
              <a:t>FreeRTOS  ·  5 tareas concurrentes distribuidas entre Core 0 (control) y Core 1 (usuario)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D7A65"/>
                </a:solidFill>
              </a:rPr>
              <a:t>04 · LENGUAJE DE DOMINIO (DSL)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el hardware sin recompilar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lenguaje diseñado para simplificar la interacción con el dispositivo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64208"/>
            <a:ext cx="37490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75564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</a:rPr>
              <a:t>Lexer + Interpreter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Tokenización y traducción a C++ en tiempo de ejecución. Validación sintáctica antes de ejecutar.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45720" cy="713232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505456"/>
            <a:ext cx="37490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9689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</a:rPr>
              <a:t>Control de flujo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834640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Variables, condicionales if/else, bucles finitos e infinitos, operadores aritméticos y bit a bit.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505456"/>
            <a:ext cx="45720" cy="713232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346704"/>
            <a:ext cx="37490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43814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</a:rPr>
              <a:t>Comunicación I2C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367588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Lectura y escritura de registros. Soporta big-endian y little-endian con conversión automática.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346704"/>
            <a:ext cx="45720" cy="713232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187952"/>
            <a:ext cx="37490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27939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</a:rPr>
              <a:t>Logs y archivos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451713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Registro de eventos en microSD con marca temporal automática. Archivo configurable por programa.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187952"/>
            <a:ext cx="45720" cy="713232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1664208"/>
            <a:ext cx="4251960" cy="2926080"/>
          </a:xfrm>
          <a:prstGeom prst="rect">
            <a:avLst/>
          </a:prstGeom>
          <a:solidFill>
            <a:srgbClr val="1A1A1A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1664208"/>
            <a:ext cx="425196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6642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temperatura.str  —  ejemplo real del prototipo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17720" y="2029968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77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"temp.log"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17720" y="2253996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7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 INIT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17720" y="2478024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7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 WRITE 0x76 0xF4 0x27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17720" y="270205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 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17720" y="292608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7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 READLE 0x76 0x88 2 -&gt; dig_T1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17720" y="3150108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7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 READ  0x76 0xFA 1 -&gt; temp_msb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17720" y="3598164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temp_raw = (temp_msb &lt;&lt; 12)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17720" y="382219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(temp_lsb &lt;&lt; 4)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17720" y="404622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= (t_fine * 5 / 256) / 100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17720" y="4494276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77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"Temperatura (°C):" temp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8280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Archivo .str   →   Lexer   →   Interpreter   →   Hardware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D7A65"/>
                </a:solidFill>
              </a:rPr>
              <a:t>05 · SERVIDOR HTTP EMBEBIDO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desde el navegador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herramientas externas. Sin dependencia de internet.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64208"/>
            <a:ext cx="406908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4069080" cy="45720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922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7A65"/>
                </a:solidFill>
              </a:rPr>
              <a:t>Modo Access Point  (AP)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El dispositivo crea su propia red Wi-Fi.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Uso portátil y autónomo.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Acceso directo desde cualquier dispositivo.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664208"/>
            <a:ext cx="406908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664208"/>
            <a:ext cx="4069080" cy="45720"/>
          </a:xfrm>
          <a:prstGeom prst="rect">
            <a:avLst/>
          </a:prstGeom>
          <a:solidFill>
            <a:srgbClr val="7066E0"/>
          </a:solidFill>
          <a:ln w="12700">
            <a:solidFill>
              <a:srgbClr val="706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7922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66E0"/>
                </a:solidFill>
              </a:rPr>
              <a:t>Modo Station  (STA)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Se conecta a una red existente.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Ideal para entornos fijos.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Acceso desde toda la red local.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090672"/>
            <a:ext cx="196596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090672"/>
            <a:ext cx="1965960" cy="45720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186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</a:rPr>
              <a:t>Dashboard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529584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Crear, editar, ejecutar y eliminar programas DSL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79192" y="3090672"/>
            <a:ext cx="196596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9192" y="3090672"/>
            <a:ext cx="1965960" cy="45720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32186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</a:rPr>
              <a:t>Logs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16352" y="3529584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Visualización de registros generados por cada programa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55464" y="3090672"/>
            <a:ext cx="196596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55464" y="3090672"/>
            <a:ext cx="1965960" cy="45720"/>
          </a:xfrm>
          <a:prstGeom prst="rect">
            <a:avLst/>
          </a:prstGeom>
          <a:solidFill>
            <a:srgbClr val="7066E0"/>
          </a:solidFill>
          <a:ln w="12700">
            <a:solidFill>
              <a:srgbClr val="7066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32186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</a:rPr>
              <a:t>Documentación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92624" y="3529584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Referencia del lenguaje integrada en el dispositivo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31736" y="3090672"/>
            <a:ext cx="196596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31736" y="3090672"/>
            <a:ext cx="1965960" cy="45720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68896" y="32186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</a:rPr>
              <a:t>Configuración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168896" y="3529584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Parámetros de red y modos de operación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</a:rPr>
              <a:t>Seguridad: el modo configuración se protege con una secuencia física de botones, evitando modificaciones remotas no autorizadas.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5CEBF"/>
                </a:solidFill>
              </a:rPr>
              <a:t>06  ·  PROTOTIPO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del sistema en funcionamiento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229600" cy="3520440"/>
          </a:xfrm>
          <a:prstGeom prst="rect">
            <a:avLst/>
          </a:prstGeom>
          <a:solidFill>
            <a:srgbClr val="111111"/>
          </a:solidFill>
          <a:ln w="19050">
            <a:solidFill>
              <a:srgbClr val="E877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9080" y="2286000"/>
            <a:ext cx="1005840" cy="10058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69080" y="2286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▶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Insertar vídeo aquí  —  PowerPoint: Insertar › Vídeo › Este dispositivo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4645152"/>
            <a:ext cx="822960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73659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CEBF"/>
                </a:solidFill>
              </a:rPr>
              <a:t>Arranque del sistema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79192" y="473659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CEBF"/>
                </a:solidFill>
              </a:rPr>
              <a:t>Ejecución de programa DSL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55464" y="473659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CEBF"/>
                </a:solidFill>
              </a:rPr>
              <a:t>Dashboard web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31736" y="473659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CEBF"/>
                </a:solidFill>
              </a:rPr>
              <a:t>Registro en logs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D7A65"/>
                </a:solidFill>
              </a:rPr>
              <a:t>06 · PROTOTIPO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diseño conceptual al hardware real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7066E0"/>
          </a:solidFill>
          <a:ln w="12700">
            <a:solidFill>
              <a:srgbClr val="706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64208"/>
            <a:ext cx="3931920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105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Adaptaciones del prototipo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084832"/>
            <a:ext cx="731520" cy="36576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12848"/>
            <a:ext cx="3566160" cy="566928"/>
          </a:xfrm>
          <a:prstGeom prst="rect">
            <a:avLst/>
          </a:prstGeom>
          <a:solidFill>
            <a:srgbClr val="FAFAFA"/>
          </a:solidFill>
          <a:ln w="5080">
            <a:solidFill>
              <a:srgbClr val="E8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2585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6A"/>
                </a:solidFill>
              </a:rPr>
              <a:t>Pantalla táctil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45973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→  TFT + 3 botones físicos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889504"/>
            <a:ext cx="35661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8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93522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6A"/>
                </a:solidFill>
              </a:rPr>
              <a:t>Multiplexor I2C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1363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→  PCF8574 + buses nativos ESP32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3566160" cy="566928"/>
          </a:xfrm>
          <a:prstGeom prst="rect">
            <a:avLst/>
          </a:prstGeom>
          <a:solidFill>
            <a:srgbClr val="FAFAFA"/>
          </a:solidFill>
          <a:ln w="5080">
            <a:solidFill>
              <a:srgbClr val="E8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6118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6A"/>
                </a:solidFill>
              </a:rPr>
              <a:t>Baterías Li-ion 3S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38130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→  Fuente externa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4242816"/>
            <a:ext cx="35661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8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28853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6A"/>
                </a:solidFill>
              </a:rPr>
              <a:t>Sistema de refrigeración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448970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→  Prescindible en condiciones normales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664208"/>
            <a:ext cx="3931920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8105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Funcionalidades validadas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2084832"/>
            <a:ext cx="731520" cy="36576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2267712"/>
            <a:ext cx="91440" cy="91440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23113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Ejecución de programas DSL en tiempo real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2670048"/>
            <a:ext cx="91440" cy="91440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63347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Sensores BME280 + MPU6050 vía I2C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3072384"/>
            <a:ext cx="91440" cy="91440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03580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Dashboard web accesible desde navegador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474720"/>
            <a:ext cx="91440" cy="91440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43814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Logs con timestamp en microSD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3877056"/>
            <a:ext cx="91440" cy="91440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84048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Navegación por menú (botones + TFT)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4279392"/>
            <a:ext cx="91440" cy="91440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424281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Modos AP y STA configurables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4681728"/>
            <a:ext cx="91440" cy="91440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464515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Pruebas automatizadas del núcleo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D7A65"/>
                </a:solidFill>
              </a:rPr>
              <a:t>07 · GESTIÓN ENERGÉTICA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estimada del sistema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celdas Li-ion  ·  ≈ 9 000 mAh  ·  Análisis teórico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19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</a:rPr>
              <a:t>Reposo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Pantalla atenuada, ESP32 en bajo consumo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68880" y="1792224"/>
            <a:ext cx="5303520" cy="274320"/>
          </a:xfrm>
          <a:prstGeom prst="rect">
            <a:avLst/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792224"/>
            <a:ext cx="424282" cy="274320"/>
          </a:xfrm>
          <a:prstGeom prst="rect">
            <a:avLst/>
          </a:prstGeom>
          <a:solidFill>
            <a:srgbClr val="C5CEBF"/>
          </a:solidFill>
          <a:ln w="12700">
            <a:solidFill>
              <a:srgbClr val="C5CE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7190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5CEBF"/>
                </a:solidFill>
              </a:rPr>
              <a:t>~45 mA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95360" y="171907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~190 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</a:rPr>
              <a:t>Modo STA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Conectado a red Wi-Fi existente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68880" y="2542032"/>
            <a:ext cx="5303520" cy="274320"/>
          </a:xfrm>
          <a:prstGeom prst="rect">
            <a:avLst/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2542032"/>
            <a:ext cx="1484986" cy="274320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2468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D7A65"/>
                </a:solidFill>
              </a:rPr>
              <a:t>~155 mA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95360" y="24688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~58 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218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</a:rPr>
              <a:t>Modo AP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4930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Generando su propia red Wi-Fi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68880" y="3291840"/>
            <a:ext cx="5303520" cy="274320"/>
          </a:xfrm>
          <a:prstGeom prst="rect">
            <a:avLst/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3291840"/>
            <a:ext cx="2280514" cy="274320"/>
          </a:xfrm>
          <a:prstGeom prst="rect">
            <a:avLst/>
          </a:prstGeom>
          <a:solidFill>
            <a:srgbClr val="7066E0"/>
          </a:solidFill>
          <a:ln w="12700">
            <a:solidFill>
              <a:srgbClr val="7066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321868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066E0"/>
                </a:solidFill>
              </a:rPr>
              <a:t>~240 mA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95360" y="321868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~37 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968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</a:rPr>
              <a:t>Uso intensivo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424281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</a:rPr>
              <a:t>Wi-Fi activo + accesos frecuentes a SD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68880" y="4041648"/>
            <a:ext cx="5303520" cy="274320"/>
          </a:xfrm>
          <a:prstGeom prst="rect">
            <a:avLst/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4041648"/>
            <a:ext cx="3659429" cy="274320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396849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776A"/>
                </a:solidFill>
              </a:rPr>
              <a:t>~385 mA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95360" y="3968496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~23 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</a:rPr>
              <a:t>Valores calculados a partir de las especificaciones de los componentes. No medidos físicamente en el prototipo actual.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D7A65"/>
                </a:solidFill>
              </a:rPr>
              <a:t>08 · CONCLUSIONS &amp; FUTURE WORK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in English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64208"/>
            <a:ext cx="3931920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3931920" cy="45720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A65"/>
                </a:solidFill>
              </a:rPr>
              <a:t>Conclusions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212848"/>
            <a:ext cx="73152" cy="73152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762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All initial objectives successfully achieved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660904"/>
            <a:ext cx="73152" cy="73152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243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Modular, reusable IoT platform validated across multiple scenarios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108960"/>
            <a:ext cx="73152" cy="73152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723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DSL proved effective — hardware interaction without recompilation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557016"/>
            <a:ext cx="73152" cy="73152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520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Layered architecture ensures maintainability and scalability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4005072"/>
            <a:ext cx="73152" cy="73152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96849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Energy analysis confirms viability for portable battery-powered use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453128"/>
            <a:ext cx="73152" cy="73152"/>
          </a:xfrm>
          <a:prstGeom prst="ellipse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4165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Prototype validates architecture, DSL and embedded server end-to-end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1664208"/>
            <a:ext cx="3931920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664208"/>
            <a:ext cx="3931920" cy="45720"/>
          </a:xfrm>
          <a:prstGeom prst="rect">
            <a:avLst/>
          </a:prstGeom>
          <a:solidFill>
            <a:srgbClr val="7066E0"/>
          </a:solidFill>
          <a:ln w="12700">
            <a:solidFill>
              <a:srgbClr val="706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7830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66E0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221284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66E0"/>
                </a:solidFill>
              </a:rPr>
              <a:t>DSL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83480" y="2542032"/>
            <a:ext cx="64008" cy="64008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38928" y="24688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Event-driven execution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83480" y="2834640"/>
            <a:ext cx="64008" cy="64008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27614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User-defined subroutines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83480" y="3127248"/>
            <a:ext cx="64008" cy="64008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30540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SPI support + new data types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4381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66E0"/>
                </a:solidFill>
              </a:rPr>
              <a:t>Hardware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3767328"/>
            <a:ext cx="64008" cy="64008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36941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Custom PCB design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83480" y="4059936"/>
            <a:ext cx="64008" cy="64008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38928" y="398678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Full power &amp; thermal validation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43708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66E0"/>
                </a:solidFill>
              </a:rPr>
              <a:t>Software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83480" y="4700016"/>
            <a:ext cx="64008" cy="64008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38928" y="462686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Lexer – Parser – Interpreter pipeline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83480" y="4992624"/>
            <a:ext cx="64008" cy="64008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38928" y="49194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Real-time web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E8776A"/>
          </a:solidFill>
          <a:ln w="12700">
            <a:solidFill>
              <a:srgbClr val="E877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22192"/>
            <a:ext cx="9144000" cy="54864"/>
          </a:xfrm>
          <a:prstGeom prst="rect">
            <a:avLst/>
          </a:prstGeom>
          <a:solidFill>
            <a:srgbClr val="3D7A65"/>
          </a:solidFill>
          <a:ln w="12700">
            <a:solidFill>
              <a:srgbClr val="3D7A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A5A5A"/>
                </a:solidFill>
              </a:rPr>
              <a:t>¿Preguntas?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743200"/>
            <a:ext cx="2743200" cy="18288"/>
          </a:xfrm>
          <a:prstGeom prst="rect">
            <a:avLst/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926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ESP32-S3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79192" y="2926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DSL embebido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55464" y="2926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Servidor HTTP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31736" y="2926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Modular + portable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Alejandro Rodríguez Mederos  ·  Grado en Ingeniería Informática  ·  ESIT · ULL  ·  junio 2026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8D4"/>
                </a:solidFill>
              </a:rPr>
              <a:t>appstride.org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e implementación de un dispositivo IoT modular</dc:title>
  <dc:subject>PptxGenJS Presentation</dc:subject>
  <dc:creator>Alejandro Rodríguez Mederos</dc:creator>
  <cp:lastModifiedBy>Alejandro Rodríguez Mederos</cp:lastModifiedBy>
  <cp:revision>1</cp:revision>
  <dcterms:created xsi:type="dcterms:W3CDTF">2026-06-03T18:44:56Z</dcterms:created>
  <dcterms:modified xsi:type="dcterms:W3CDTF">2026-06-03T18:44:56Z</dcterms:modified>
</cp:coreProperties>
</file>